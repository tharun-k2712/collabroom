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Aptos Display"/>
              </a:defRPr>
            </a:pPr>
            <a:r>
              <a:t>TECHNICAL APPROACH — SPLIT COMPONENTS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5836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ptos"/>
              </a:defRPr>
            </a:pPr>
            <a:r>
              <a:t>01 Team Badge</a:t>
            </a:r>
          </a:p>
        </p:txBody>
      </p:sp>
      <p:pic>
        <p:nvPicPr>
          <p:cNvPr id="4" name="Picture 3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86968"/>
            <a:ext cx="3200400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65836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ptos"/>
              </a:defRPr>
            </a:pPr>
            <a:r>
              <a:t>02 Title</a:t>
            </a:r>
          </a:p>
        </p:txBody>
      </p:sp>
      <p:pic>
        <p:nvPicPr>
          <p:cNvPr id="6" name="Picture 5" descr="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886968"/>
            <a:ext cx="3703320" cy="5049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83879" y="65836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ptos"/>
              </a:defRPr>
            </a:pPr>
            <a:r>
              <a:t>03 SIH Logo</a:t>
            </a:r>
          </a:p>
        </p:txBody>
      </p:sp>
      <p:pic>
        <p:nvPicPr>
          <p:cNvPr id="8" name="Picture 7" descr="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886968"/>
            <a:ext cx="3692769" cy="1600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" y="2651760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ptos"/>
              </a:defRPr>
            </a:pPr>
            <a:r>
              <a:t>04 Train Custom Model</a:t>
            </a:r>
          </a:p>
        </p:txBody>
      </p:sp>
      <p:pic>
        <p:nvPicPr>
          <p:cNvPr id="10" name="Picture 9" descr="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880360"/>
            <a:ext cx="1163781" cy="1600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06240" y="2651760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ptos"/>
              </a:defRPr>
            </a:pPr>
            <a:r>
              <a:t>05 Quantization</a:t>
            </a:r>
          </a:p>
        </p:txBody>
      </p:sp>
      <p:pic>
        <p:nvPicPr>
          <p:cNvPr id="12" name="Picture 11" descr="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2880360"/>
            <a:ext cx="1115290" cy="1600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83879" y="2651760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ptos"/>
              </a:defRPr>
            </a:pPr>
            <a:r>
              <a:t>06 Pruning</a:t>
            </a:r>
          </a:p>
        </p:txBody>
      </p:sp>
      <p:pic>
        <p:nvPicPr>
          <p:cNvPr id="14" name="Picture 13" descr="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79" y="2880360"/>
            <a:ext cx="1139536" cy="1600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28600" y="4645152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ptos"/>
              </a:defRPr>
            </a:pPr>
            <a:r>
              <a:t>07 Model Size Reduction</a:t>
            </a:r>
          </a:p>
        </p:txBody>
      </p:sp>
      <p:pic>
        <p:nvPicPr>
          <p:cNvPr id="16" name="Picture 15" descr="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4873752"/>
            <a:ext cx="1139536" cy="1600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206240" y="4645152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ptos"/>
              </a:defRPr>
            </a:pPr>
            <a:r>
              <a:t>08 Memory CPU Optimization</a:t>
            </a:r>
          </a:p>
        </p:txBody>
      </p:sp>
      <p:pic>
        <p:nvPicPr>
          <p:cNvPr id="18" name="Picture 17" descr="0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6240" y="4873752"/>
            <a:ext cx="1091045" cy="1600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83879" y="4645152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ptos"/>
              </a:defRPr>
            </a:pPr>
            <a:r>
              <a:t>09 Voice Input</a:t>
            </a:r>
          </a:p>
        </p:txBody>
      </p:sp>
      <p:pic>
        <p:nvPicPr>
          <p:cNvPr id="20" name="Picture 19" descr="0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3879" y="4873752"/>
            <a:ext cx="1427205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Aptos Display"/>
              </a:defRPr>
            </a:pPr>
            <a:r>
              <a:t>TECHNICAL APPROACH — SPLIT COMPONENTS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5836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ptos"/>
              </a:defRPr>
            </a:pPr>
            <a:r>
              <a:t>10 Edge Device</a:t>
            </a:r>
          </a:p>
        </p:txBody>
      </p:sp>
      <p:pic>
        <p:nvPicPr>
          <p:cNvPr id="4" name="Picture 3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86968"/>
            <a:ext cx="3418609" cy="16001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65836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ptos"/>
              </a:defRPr>
            </a:pPr>
            <a:r>
              <a:t>11 Keyword Decision</a:t>
            </a:r>
          </a:p>
        </p:txBody>
      </p:sp>
      <p:pic>
        <p:nvPicPr>
          <p:cNvPr id="6" name="Picture 5" descr="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886968"/>
            <a:ext cx="1600200" cy="160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83879" y="65836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ptos"/>
              </a:defRPr>
            </a:pPr>
            <a:r>
              <a:t>12 Cloud ASR</a:t>
            </a:r>
          </a:p>
        </p:txBody>
      </p:sp>
      <p:pic>
        <p:nvPicPr>
          <p:cNvPr id="8" name="Picture 7" descr="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886968"/>
            <a:ext cx="1741394" cy="1600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" y="2651760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ptos"/>
              </a:defRPr>
            </a:pPr>
            <a:r>
              <a:t>13 Speech To Text</a:t>
            </a:r>
          </a:p>
        </p:txBody>
      </p:sp>
      <p:pic>
        <p:nvPicPr>
          <p:cNvPr id="10" name="Picture 9" descr="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880360"/>
            <a:ext cx="1684421" cy="16001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06240" y="2651760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ptos"/>
              </a:defRPr>
            </a:pPr>
            <a:r>
              <a:t>14 Continue Listening</a:t>
            </a:r>
          </a:p>
        </p:txBody>
      </p:sp>
      <p:pic>
        <p:nvPicPr>
          <p:cNvPr id="12" name="Picture 11" descr="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2880360"/>
            <a:ext cx="3345872" cy="16001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83879" y="2651760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ptos"/>
              </a:defRPr>
            </a:pPr>
            <a:r>
              <a:t>15 Local Processing</a:t>
            </a:r>
          </a:p>
        </p:txBody>
      </p:sp>
      <p:pic>
        <p:nvPicPr>
          <p:cNvPr id="14" name="Picture 13" descr="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79" y="2880360"/>
            <a:ext cx="3703320" cy="149896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28600" y="4645152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ptos"/>
              </a:defRPr>
            </a:pPr>
            <a:r>
              <a:t>16 Low Power</a:t>
            </a:r>
          </a:p>
        </p:txBody>
      </p:sp>
      <p:pic>
        <p:nvPicPr>
          <p:cNvPr id="16" name="Picture 15" descr="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4873752"/>
            <a:ext cx="3703320" cy="11658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206240" y="4645152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ptos"/>
              </a:defRPr>
            </a:pPr>
            <a:r>
              <a:t>17 Technologies Used</a:t>
            </a:r>
          </a:p>
        </p:txBody>
      </p:sp>
      <p:pic>
        <p:nvPicPr>
          <p:cNvPr id="18" name="Picture 17" descr="1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6240" y="4873752"/>
            <a:ext cx="3703320" cy="47305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83879" y="4645152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ptos"/>
              </a:defRPr>
            </a:pPr>
            <a:r>
              <a:t>18 Legend</a:t>
            </a:r>
          </a:p>
        </p:txBody>
      </p:sp>
      <p:pic>
        <p:nvPicPr>
          <p:cNvPr id="20" name="Picture 19" descr="1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3879" y="4873752"/>
            <a:ext cx="3703320" cy="15952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Aptos Display"/>
              </a:defRPr>
            </a:pPr>
            <a:r>
              <a:t>REFERENCE + LEGEND</a:t>
            </a:r>
          </a:p>
        </p:txBody>
      </p:sp>
      <p:pic>
        <p:nvPicPr>
          <p:cNvPr id="3" name="Picture 2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85800"/>
            <a:ext cx="5486400" cy="2363372"/>
          </a:xfrm>
          <a:prstGeom prst="rect">
            <a:avLst/>
          </a:prstGeom>
        </p:spPr>
      </p:pic>
      <p:pic>
        <p:nvPicPr>
          <p:cNvPr id="4" name="Picture 3" descr="6895b996-2078-472e-86d0-c0d940aac0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685800"/>
            <a:ext cx="5806440" cy="3870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